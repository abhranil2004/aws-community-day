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29"/>
  </p:notesMasterIdLst>
  <p:sldIdLst>
    <p:sldId id="256" r:id="rId3"/>
    <p:sldId id="258" r:id="rId4"/>
    <p:sldId id="259" r:id="rId5"/>
    <p:sldId id="265" r:id="rId6"/>
    <p:sldId id="267" r:id="rId7"/>
    <p:sldId id="266" r:id="rId8"/>
    <p:sldId id="264" r:id="rId9"/>
    <p:sldId id="263" r:id="rId10"/>
    <p:sldId id="269" r:id="rId11"/>
    <p:sldId id="271" r:id="rId12"/>
    <p:sldId id="270" r:id="rId13"/>
    <p:sldId id="268" r:id="rId14"/>
    <p:sldId id="272" r:id="rId15"/>
    <p:sldId id="274" r:id="rId16"/>
    <p:sldId id="275" r:id="rId17"/>
    <p:sldId id="27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60" r:id="rId27"/>
    <p:sldId id="262" r:id="rId28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30"/>
      <p:bold r:id="rId31"/>
      <p:italic r:id="rId32"/>
      <p:boldItalic r:id="rId33"/>
    </p:embeddedFont>
    <p:embeddedFont>
      <p:font typeface="Libre Franklin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2ec1943e2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342ec1943e2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2ec1943e2_2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g342ec1943e2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2ec1943e2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42ec1943e2_2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4E88B9B4-0CAE-1450-81A6-5F13F6CA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2ec1943e2_2_103:notes">
            <a:extLst>
              <a:ext uri="{FF2B5EF4-FFF2-40B4-BE49-F238E27FC236}">
                <a16:creationId xmlns:a16="http://schemas.microsoft.com/office/drawing/2014/main" id="{C65C3746-B629-AE24-10F0-5EFFB7DB3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42ec1943e2_2_103:notes">
            <a:extLst>
              <a:ext uri="{FF2B5EF4-FFF2-40B4-BE49-F238E27FC236}">
                <a16:creationId xmlns:a16="http://schemas.microsoft.com/office/drawing/2014/main" id="{3698D879-D6C5-D8A2-25C9-742B37AF3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890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2ec1943e2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42ec1943e2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2ec1943e2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42ec1943e2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381" y="4800600"/>
            <a:ext cx="9141525" cy="3429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822960" y="569214"/>
            <a:ext cx="7543800" cy="267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Bookman Old Style"/>
              <a:buNone/>
              <a:defRPr sz="6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825038" y="3483864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905743" y="3356056"/>
            <a:ext cx="740655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14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822960" y="1581151"/>
            <a:ext cx="7543800" cy="28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2381" y="4800600"/>
            <a:ext cx="9141525" cy="3429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822960" y="569214"/>
            <a:ext cx="7543800" cy="267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Bookman Old Style"/>
              <a:buNone/>
              <a:defRPr sz="6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822960" y="3497580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77" name="Google Shape;77;p16"/>
          <p:cNvCxnSpPr/>
          <p:nvPr/>
        </p:nvCxnSpPr>
        <p:spPr>
          <a:xfrm>
            <a:off x="905743" y="3363849"/>
            <a:ext cx="740655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822960" y="1590675"/>
            <a:ext cx="3479850" cy="2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2"/>
          </p:nvPr>
        </p:nvSpPr>
        <p:spPr>
          <a:xfrm>
            <a:off x="4886958" y="1590675"/>
            <a:ext cx="3479850" cy="2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822960" y="1543050"/>
            <a:ext cx="3479850" cy="55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2"/>
          </p:nvPr>
        </p:nvSpPr>
        <p:spPr>
          <a:xfrm>
            <a:off x="822960" y="2218705"/>
            <a:ext cx="3479850" cy="218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3"/>
          </p:nvPr>
        </p:nvSpPr>
        <p:spPr>
          <a:xfrm>
            <a:off x="4886958" y="1543050"/>
            <a:ext cx="3479850" cy="55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4"/>
          </p:nvPr>
        </p:nvSpPr>
        <p:spPr>
          <a:xfrm>
            <a:off x="4886958" y="2218705"/>
            <a:ext cx="3479850" cy="218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/>
          <p:nvPr/>
        </p:nvSpPr>
        <p:spPr>
          <a:xfrm>
            <a:off x="12" y="0"/>
            <a:ext cx="349065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482599" y="589787"/>
            <a:ext cx="2638125" cy="1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Bookman Old Style"/>
              <a:buNone/>
              <a:defRPr sz="27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4094238" y="609599"/>
            <a:ext cx="4446225" cy="397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2"/>
          </p:nvPr>
        </p:nvSpPr>
        <p:spPr>
          <a:xfrm>
            <a:off x="482599" y="2282288"/>
            <a:ext cx="2638125" cy="2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482598" y="4834890"/>
            <a:ext cx="2638125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4094237" y="4834890"/>
            <a:ext cx="40005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3433763"/>
            <a:ext cx="9141525" cy="170977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>
            <a:spLocks noGrp="1"/>
          </p:cNvSpPr>
          <p:nvPr>
            <p:ph type="pic" idx="2"/>
          </p:nvPr>
        </p:nvSpPr>
        <p:spPr>
          <a:xfrm>
            <a:off x="11" y="0"/>
            <a:ext cx="9144000" cy="34337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822959" y="3599522"/>
            <a:ext cx="7585200" cy="55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Bookman Old Style"/>
              <a:buNone/>
              <a:defRPr sz="27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822959" y="4286250"/>
            <a:ext cx="75849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 rot="5400000">
            <a:off x="3184560" y="-780449"/>
            <a:ext cx="2820600" cy="75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0" rIns="3427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2381" y="4800600"/>
            <a:ext cx="9141525" cy="3429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 rot="5400000">
            <a:off x="5369513" y="1483389"/>
            <a:ext cx="4320000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 rot="5400000">
            <a:off x="1369013" y="-431136"/>
            <a:ext cx="432000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0" rIns="3427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381" y="4800600"/>
            <a:ext cx="9141525" cy="3429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00"/>
              <a:buFont typeface="Bookman Old Style"/>
              <a:buNone/>
              <a:defRPr sz="3500" b="0" i="0" u="none" strike="noStrike" cap="non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822960" y="1581151"/>
            <a:ext cx="7543800" cy="28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marR="0" lvl="0" indent="-3175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Calibri"/>
              <a:buChar char="◦"/>
              <a:defRPr sz="10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Calibri"/>
              <a:buChar char="◦"/>
              <a:defRPr sz="10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Calibri"/>
              <a:buChar char="◦"/>
              <a:defRPr sz="10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9845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163819" y="4835129"/>
            <a:ext cx="19386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822959" y="4835129"/>
            <a:ext cx="51138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245187" y="4835129"/>
            <a:ext cx="5850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895149" y="1423035"/>
            <a:ext cx="7475175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8" name="Google Shape;58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27906" y="97125"/>
            <a:ext cx="1945574" cy="94144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/>
          <p:nvPr/>
        </p:nvSpPr>
        <p:spPr>
          <a:xfrm>
            <a:off x="0" y="25011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6" name="Google Shape;136;p24"/>
          <p:cNvSpPr txBox="1">
            <a:spLocks noGrp="1"/>
          </p:cNvSpPr>
          <p:nvPr>
            <p:ph type="ctrTitle"/>
          </p:nvPr>
        </p:nvSpPr>
        <p:spPr>
          <a:xfrm>
            <a:off x="3965250" y="609675"/>
            <a:ext cx="5178825" cy="276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900"/>
              </a:spcBef>
              <a:spcAft>
                <a:spcPts val="200"/>
              </a:spcAft>
              <a:buSzPts val="1400"/>
              <a:buNone/>
            </a:pPr>
            <a:r>
              <a:rPr lang="en-GB" sz="4800" b="1" dirty="0">
                <a:latin typeface="Calibri"/>
                <a:ea typeface="Calibri"/>
                <a:cs typeface="Calibri"/>
                <a:sym typeface="Calibri"/>
              </a:rPr>
              <a:t>Agentic AI </a:t>
            </a:r>
            <a:br>
              <a:rPr lang="en-GB" sz="48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GB" sz="4800" b="1" dirty="0">
                <a:latin typeface="Calibri"/>
                <a:ea typeface="Calibri"/>
                <a:cs typeface="Calibri"/>
                <a:sym typeface="Calibri"/>
              </a:rPr>
              <a:t>with Amazon Q Business </a:t>
            </a:r>
            <a:endParaRPr lang="en-GB" sz="4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4" descr="A picture containing building, sitting, bench, sid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"/>
            <a:ext cx="3476486" cy="51435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4"/>
          <p:cNvCxnSpPr/>
          <p:nvPr/>
        </p:nvCxnSpPr>
        <p:spPr>
          <a:xfrm>
            <a:off x="4070816" y="3374194"/>
            <a:ext cx="422708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24"/>
          <p:cNvSpPr txBox="1"/>
          <p:nvPr/>
        </p:nvSpPr>
        <p:spPr>
          <a:xfrm>
            <a:off x="3868057" y="3575420"/>
            <a:ext cx="5176869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GB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Biraj Bhushan Choudhury</a:t>
            </a: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 Product manager Hyland Software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1919" y="85706"/>
            <a:ext cx="1973007" cy="954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AWS Community Day Kolkat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011483"/>
            <a:ext cx="3476474" cy="1157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822956" y="128401"/>
            <a:ext cx="7543800" cy="11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ookman Old Style"/>
              <a:buNone/>
            </a:pPr>
            <a:r>
              <a:rPr lang="en-US" sz="4500" b="1" dirty="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822960" y="1581151"/>
            <a:ext cx="7543800" cy="282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 fontScale="40000" lnSpcReduction="20000"/>
          </a:bodyPr>
          <a:lstStyle/>
          <a:p>
            <a:pPr marL="825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4000" b="0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Q Business is a </a:t>
            </a:r>
            <a:r>
              <a:rPr lang="en-US" sz="4000" b="1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 AI assistant </a:t>
            </a:r>
            <a:r>
              <a:rPr lang="en-US" sz="4000" b="0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boosts employee productivity and transforms the way that you get work done. You can quickly </a:t>
            </a:r>
            <a:r>
              <a:rPr lang="en-US" sz="4000" b="1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accurate answers </a:t>
            </a:r>
            <a:r>
              <a:rPr lang="en-US" sz="4000" b="0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your </a:t>
            </a:r>
            <a:r>
              <a:rPr lang="en-US" sz="4000" b="1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content</a:t>
            </a:r>
            <a:r>
              <a:rPr lang="en-US" sz="4000" b="0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000" b="1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backed up with citations and references</a:t>
            </a:r>
            <a:r>
              <a:rPr lang="en-US" sz="4000" b="0" i="0" dirty="0">
                <a:solidFill>
                  <a:srgbClr val="0F141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You can brainstorm new ideas, generate content, or create summaries using Amazon Q Business based on your enterprise data. Amazon Q Business ensures that users access enterprise content securely according to their permissions. You can quickly deploy Amazon Q Business with built-in connectors to popular enterprise repositories.</a:t>
            </a:r>
            <a:endParaRPr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621450" y="214950"/>
            <a:ext cx="77454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4500" b="1" dirty="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C5B62F-515D-239E-A3D4-3E2F7EA30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027" y="1479929"/>
            <a:ext cx="5202737" cy="32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D62F49BA-BA1F-D5DB-1399-B338915D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>
            <a:extLst>
              <a:ext uri="{FF2B5EF4-FFF2-40B4-BE49-F238E27FC236}">
                <a16:creationId xmlns:a16="http://schemas.microsoft.com/office/drawing/2014/main" id="{9C9BB8BF-C349-A0F4-1E7D-F4E13E8A5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450" y="214950"/>
            <a:ext cx="77454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4500" b="1" dirty="0">
                <a:latin typeface="Calibri"/>
                <a:ea typeface="Calibri"/>
                <a:cs typeface="Calibri"/>
                <a:sym typeface="Calibri"/>
              </a:rPr>
              <a:t>Connectors – Ingest Data</a:t>
            </a:r>
            <a:endParaRPr sz="4500"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5281C-0CCC-FC47-3FF6-5C1322A3D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158" y="1523094"/>
            <a:ext cx="6127669" cy="317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1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8FCF-CBC3-A115-7485-570CB920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F119D-A3C4-48A4-AA1D-D5DACCDDD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796" y="1428444"/>
            <a:ext cx="3195608" cy="3024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EAB0B-1F81-A67D-A373-698229BF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" y="1557844"/>
            <a:ext cx="5297714" cy="289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4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6625-8065-65A6-36D9-3A3EEFA6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Plugins – Performing actions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C04CB0-FFB3-EB2B-88E5-2E1889D58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42" y="1497954"/>
            <a:ext cx="6490073" cy="32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5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ADE6-9177-A566-9D66-4912516B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AWS Q Business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271B0-5B96-EE45-B9EC-967785D3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7" y="1477168"/>
            <a:ext cx="7319123" cy="314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9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231502-6E5B-7C49-1F6E-332FAD9A9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40" y="1661885"/>
            <a:ext cx="4377007" cy="284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33A54-D3C0-56BD-FB5C-A0AD7C9A7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153" y="1661885"/>
            <a:ext cx="3828761" cy="29852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64DFD5-05D2-0944-E9CA-DDE863169FB1}"/>
              </a:ext>
            </a:extLst>
          </p:cNvPr>
          <p:cNvSpPr txBox="1"/>
          <p:nvPr/>
        </p:nvSpPr>
        <p:spPr>
          <a:xfrm>
            <a:off x="471713" y="271068"/>
            <a:ext cx="68362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Access Management method And  Service Roles</a:t>
            </a:r>
          </a:p>
        </p:txBody>
      </p:sp>
    </p:spTree>
    <p:extLst>
      <p:ext uri="{BB962C8B-B14F-4D97-AF65-F5344CB8AC3E}">
        <p14:creationId xmlns:p14="http://schemas.microsoft.com/office/powerpoint/2010/main" val="1224960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AA21-C2EB-1FA0-015D-4A6AF68D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 Sources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8D25A0-2CFC-4CFB-51C1-C0D8C525E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41" y="1811712"/>
            <a:ext cx="8192038" cy="235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026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8033-C806-E09F-9BB8-760F139C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Service Role for </a:t>
            </a:r>
            <a:br>
              <a:rPr lang="en-US" dirty="0"/>
            </a:br>
            <a:r>
              <a:rPr lang="en-US" dirty="0"/>
              <a:t>the Data Source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2C01D6C-61DD-A9C9-75AC-B9CDB9DF7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58" y="1892578"/>
            <a:ext cx="7483707" cy="132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058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B6F4-8AFC-D01A-3014-A9C6FA2B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E1F1-47B8-51A2-E5BA-077ADE358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6151154" cy="1088100"/>
          </a:xfrm>
        </p:spPr>
        <p:txBody>
          <a:bodyPr>
            <a:normAutofit/>
          </a:bodyPr>
          <a:lstStyle/>
          <a:p>
            <a:r>
              <a:rPr lang="en-US" sz="3200" dirty="0"/>
              <a:t>Point to the Data Source and Set Sync intervals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0BAB24D-053D-731D-4938-B267D985C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228" y="1456417"/>
            <a:ext cx="5363029" cy="333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506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ED5E-693A-02D0-1305-2F5497FC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your AI Assistant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28CA8-2204-B51E-E023-E6D625B7E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5" y="1556980"/>
            <a:ext cx="6712857" cy="313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022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523E-1C0B-BA61-59B8-B177EBE65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Calendar Plugin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8EE9F-8EB1-F4A5-59C5-A43E0689F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91" y="1564974"/>
            <a:ext cx="8204937" cy="279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81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6EBC-1EF1-F240-805E-D35C2277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4C389-BD5B-5236-6375-78990927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Google Calendar Plugin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908A1-6859-D0F2-6A33-D6716020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6" y="1506677"/>
            <a:ext cx="6625771" cy="317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4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1BF3-A366-990E-DBFF-3D75F330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Google Calendar Plugin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8FF47-6FBC-9B83-2A9C-0F3B0982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59" y="1581151"/>
            <a:ext cx="7682411" cy="3165020"/>
          </a:xfrm>
        </p:spPr>
        <p:txBody>
          <a:bodyPr>
            <a:normAutofit fontScale="70000" lnSpcReduction="20000"/>
          </a:bodyPr>
          <a:lstStyle/>
          <a:p>
            <a:pPr marL="13970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obtain a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ID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Secret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integrating Google Calendar with your application, follow these steps:</a:t>
            </a:r>
          </a:p>
          <a:p>
            <a:pPr marL="139700" indent="0"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Google Cloud Console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Project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Google Calendar API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 OAuth Consent Screen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OAuth Client ID: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Navigate to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APIs &amp; Services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Credentials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.​</a:t>
            </a:r>
          </a:p>
          <a:p>
            <a:pPr marL="742950" lvl="1" indent="-28575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"Create Credentials"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select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"OAuth client ID"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.​</a:t>
            </a:r>
          </a:p>
          <a:p>
            <a:pPr marL="742950" lvl="1" indent="-28575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Type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application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).​</a:t>
            </a:r>
          </a:p>
          <a:p>
            <a:pPr marL="742950" lvl="1" indent="-28575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Specify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Authorized JavaScript origins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Authorized redirect URIs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relevant to your application.​</a:t>
            </a:r>
          </a:p>
          <a:p>
            <a:pPr marL="742950" lvl="1" indent="-285750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"Create"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.​</a:t>
            </a:r>
          </a:p>
          <a:p>
            <a:pPr marL="139700" indent="0"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Obtain Client ID and Client Secret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480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0D4B-9C8F-06DC-4E55-88FA95E8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Jira Cloud Plugin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DC6CE-314B-9004-5E0F-C2140258B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1" y="1562533"/>
            <a:ext cx="7779657" cy="28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7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E5555-A7BA-0A95-1058-59FA15F99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E806-F564-29D9-5056-5AB79476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Jira Cloud Plugin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A01FC-5CA9-6908-ECAC-C4EA8753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" y="1558677"/>
            <a:ext cx="6045200" cy="320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8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2440-CB72-BD18-BA7A-E8D53AFE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Jira Cloud Plugin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B5176A-E2E6-CDA6-30C7-BC67CAE5E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2960" y="1375623"/>
            <a:ext cx="7212231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obtain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Secret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integrating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Jira Cloud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your application: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Atlassian Developer Console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App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 App Permissions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"Permissions"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select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needed for your integration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read:jira-user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read:jira-work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Save the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Authorization: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"Authorization"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Redirect URLs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your application will use (e.g., https://yourapp.com/callback).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the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Obtain Client ID and Client Secret: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721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AAE5-C763-3F32-32BD-04337BFF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BFA92-8591-7C14-F3E9-0622A56B3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62888"/>
            <a:ext cx="5410131" cy="28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37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8902-1A90-D449-7E0F-1E6621319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BE4A-65F9-9DD9-89B7-1720FDD8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Google Calendar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FE30D-19DC-896E-4AB2-43507620C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62888"/>
            <a:ext cx="5410131" cy="28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99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2E20C-1DAA-BCAA-A4DB-44C797D9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Google Calendar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94D85-B2BA-522B-CA24-E88D1C30B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10301"/>
            <a:ext cx="5873689" cy="319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2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6E9F-545F-65E5-9011-077966A2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Jira Cloud Action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3F456-413C-9B14-699C-BE7114E47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2" y="1633677"/>
            <a:ext cx="5359331" cy="26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03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72C7-021E-39F1-ABDC-95CAF5A8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Jira Cloud Action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86565-19D5-B779-3694-A3B0D02BF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536" y="1437037"/>
            <a:ext cx="2852921" cy="336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3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8B37B2-D06A-1B35-D273-79044D1C3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1543383"/>
            <a:ext cx="4084204" cy="31229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4BED1E1-1BED-FD27-5BAF-EF01DAD9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</p:spPr>
        <p:txBody>
          <a:bodyPr/>
          <a:lstStyle/>
          <a:p>
            <a:r>
              <a:rPr lang="en-US" dirty="0"/>
              <a:t>Execute Jira Cloud Action </a:t>
            </a:r>
          </a:p>
        </p:txBody>
      </p:sp>
    </p:spTree>
    <p:extLst>
      <p:ext uri="{BB962C8B-B14F-4D97-AF65-F5344CB8AC3E}">
        <p14:creationId xmlns:p14="http://schemas.microsoft.com/office/powerpoint/2010/main" val="57662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4500" b="1" dirty="0">
                <a:latin typeface="Calibri"/>
                <a:ea typeface="Calibri"/>
                <a:cs typeface="Calibri"/>
                <a:sym typeface="Calibri"/>
              </a:rPr>
              <a:t>Questions </a:t>
            </a:r>
            <a:endParaRPr sz="45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2576272" y="1905942"/>
            <a:ext cx="3991457" cy="133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7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403</Words>
  <Application>Microsoft Office PowerPoint</Application>
  <PresentationFormat>On-screen Show (16:9)</PresentationFormat>
  <Paragraphs>53</Paragraphs>
  <Slides>26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Libre Franklin</vt:lpstr>
      <vt:lpstr>Arial</vt:lpstr>
      <vt:lpstr>Calibri</vt:lpstr>
      <vt:lpstr>Bookman Old Style</vt:lpstr>
      <vt:lpstr>Simple Light</vt:lpstr>
      <vt:lpstr>1_RetrospectVTI</vt:lpstr>
      <vt:lpstr>Agentic AI  with Amazon Q Business </vt:lpstr>
      <vt:lpstr>Introduction</vt:lpstr>
      <vt:lpstr>Introduction</vt:lpstr>
      <vt:lpstr>Connectors – Ingest Data</vt:lpstr>
      <vt:lpstr>Derive Insights</vt:lpstr>
      <vt:lpstr>Plugins – Performing actions</vt:lpstr>
      <vt:lpstr>Create a AWS Q Business Application</vt:lpstr>
      <vt:lpstr>PowerPoint Presentation</vt:lpstr>
      <vt:lpstr>Add Data Sources</vt:lpstr>
      <vt:lpstr>Create Service Role for  the Data Source</vt:lpstr>
      <vt:lpstr>Point to the Data Source and Set Sync intervals</vt:lpstr>
      <vt:lpstr>Access your AI Assistant</vt:lpstr>
      <vt:lpstr>Add Calendar Plugin</vt:lpstr>
      <vt:lpstr>Add Google Calendar Plugin</vt:lpstr>
      <vt:lpstr>Add Google Calendar Plugin</vt:lpstr>
      <vt:lpstr>Add Jira Cloud Plugin</vt:lpstr>
      <vt:lpstr>Add Jira Cloud Plugin</vt:lpstr>
      <vt:lpstr>Add Jira Cloud Plugin</vt:lpstr>
      <vt:lpstr>Execute Actions</vt:lpstr>
      <vt:lpstr>Execute Google Calendar Action</vt:lpstr>
      <vt:lpstr>Execute Google Calendar Action</vt:lpstr>
      <vt:lpstr>Execute Jira Cloud Action </vt:lpstr>
      <vt:lpstr>Execute Jira Cloud Action </vt:lpstr>
      <vt:lpstr>Execute Jira Cloud Action </vt:lpstr>
      <vt:lpstr>Questions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Biraj Bhushan Choudhury</cp:lastModifiedBy>
  <cp:revision>4</cp:revision>
  <dcterms:modified xsi:type="dcterms:W3CDTF">2025-04-04T21:42:00Z</dcterms:modified>
</cp:coreProperties>
</file>